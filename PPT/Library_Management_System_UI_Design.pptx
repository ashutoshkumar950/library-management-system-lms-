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4853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BF744-76B0-1A8C-13E6-89AD5C87C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6BC9C6-E778-3A29-4568-47AF623A25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8A9703-EA98-54C2-0C42-CB6E750349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094BB-BA66-CEEC-D6FA-6B1BFA804B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259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Library Management System UI: four main screens built as a desktop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Dashboard screen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 Books screen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Manage Members screen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Issue / Return screen walkthrough.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D2F93-2E9E-508D-05BD-5BDAFC3B8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9E20D-2C51-AD1F-F3A2-6FB547B81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AE858D-4AF4-C10D-E4AF-20C753ACCD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AEFE0-2E15-5C79-4D3D-B730BBD8F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461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32DE05-8EB5-AF3C-A76D-E6CDF7108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738CF7-78C6-F6BC-2C56-AB7565743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153EC6CA-F8AD-A254-A326-DCC25BDF28F9}"/>
              </a:ext>
            </a:extLst>
          </p:cNvPr>
          <p:cNvSpPr txBox="1"/>
          <p:nvPr/>
        </p:nvSpPr>
        <p:spPr>
          <a:xfrm>
            <a:off x="3348228" y="2889504"/>
            <a:ext cx="54955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 </a:t>
            </a:r>
          </a:p>
          <a:p>
            <a:pPr marL="0" indent="0">
              <a:buNone/>
            </a:pPr>
            <a:r>
              <a:rPr lang="en-US" sz="4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		System</a:t>
            </a:r>
            <a:endParaRPr lang="en-US" sz="4400" dirty="0">
              <a:solidFill>
                <a:srgbClr val="C00000"/>
              </a:solidFill>
            </a:endParaRPr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47FAD69F-EC6E-8928-C3C9-D1C383028AA9}"/>
              </a:ext>
            </a:extLst>
          </p:cNvPr>
          <p:cNvSpPr txBox="1"/>
          <p:nvPr/>
        </p:nvSpPr>
        <p:spPr>
          <a:xfrm>
            <a:off x="297918" y="4552188"/>
            <a:ext cx="54955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Submitted To </a:t>
            </a:r>
            <a:endParaRPr lang="en-US" sz="4400" dirty="0">
              <a:solidFill>
                <a:srgbClr val="002060"/>
              </a:solidFill>
            </a:endParaRPr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D388D9C3-2B38-FA02-DA9C-6762C8AF5925}"/>
              </a:ext>
            </a:extLst>
          </p:cNvPr>
          <p:cNvSpPr txBox="1"/>
          <p:nvPr/>
        </p:nvSpPr>
        <p:spPr>
          <a:xfrm>
            <a:off x="7984974" y="4552188"/>
            <a:ext cx="54955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Submitted by </a:t>
            </a:r>
            <a:endParaRPr lang="en-US" sz="4400" dirty="0">
              <a:solidFill>
                <a:srgbClr val="002060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FE01AB-7266-B18D-68F2-18C460A061B0}"/>
              </a:ext>
            </a:extLst>
          </p:cNvPr>
          <p:cNvSpPr txBox="1"/>
          <p:nvPr/>
        </p:nvSpPr>
        <p:spPr>
          <a:xfrm>
            <a:off x="626364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3E8235-6B2C-A4C1-EA70-E9ADD6425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114" y="310339"/>
            <a:ext cx="951722" cy="1124088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DD33BC80-053A-0BF8-AE45-E11853DC4B6D}"/>
              </a:ext>
            </a:extLst>
          </p:cNvPr>
          <p:cNvSpPr txBox="1"/>
          <p:nvPr/>
        </p:nvSpPr>
        <p:spPr>
          <a:xfrm>
            <a:off x="3045690" y="535096"/>
            <a:ext cx="549554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 err="1">
                <a:solidFill>
                  <a:srgbClr val="C00000"/>
                </a:solidFill>
                <a:latin typeface="Cambria" pitchFamily="34" charset="0"/>
                <a:ea typeface="Cambria" pitchFamily="34" charset="-122"/>
              </a:rPr>
              <a:t>Pctriks&amp;key</a:t>
            </a:r>
            <a:r>
              <a:rPr lang="en-US" sz="4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</a:rPr>
              <a:t>  </a:t>
            </a:r>
            <a:r>
              <a:rPr lang="en-US" sz="4400" b="1" dirty="0" err="1">
                <a:solidFill>
                  <a:srgbClr val="C00000"/>
                </a:solidFill>
                <a:latin typeface="Cambria" pitchFamily="34" charset="0"/>
                <a:ea typeface="Cambria" pitchFamily="34" charset="-122"/>
              </a:rPr>
              <a:t>Youtube</a:t>
            </a:r>
            <a:r>
              <a:rPr lang="en-US" sz="4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</a:rPr>
              <a:t> ----------------------</a:t>
            </a:r>
          </a:p>
          <a:p>
            <a:pPr marL="0" indent="0">
              <a:buNone/>
            </a:pPr>
            <a:r>
              <a:rPr lang="en-US" sz="44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</a:rPr>
              <a:t>Er. </a:t>
            </a:r>
            <a:r>
              <a:rPr lang="en-US" sz="4400" b="1">
                <a:solidFill>
                  <a:srgbClr val="C00000"/>
                </a:solidFill>
                <a:latin typeface="Cambria" pitchFamily="34" charset="0"/>
                <a:ea typeface="Cambria" pitchFamily="34" charset="-122"/>
              </a:rPr>
              <a:t>Ashutosh SIR </a:t>
            </a:r>
            <a:endParaRPr lang="en-US" sz="4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910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DASHBOARD_OVERVIEW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01168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 System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976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application for managing books, members, and the issue / return workflow.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760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 ·  Manage Books  ·  Manage Members  ·  Issue / Return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1718672"/>
            <a:ext cx="5943600" cy="3420657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0" descr="Library Manager dashboard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810112"/>
            <a:ext cx="5760720" cy="32377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E58BC0-F07F-6703-8AB7-B95A370B6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2720" y="0"/>
            <a:ext cx="951722" cy="11240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four focused screens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screen maps to one librarian task, reachable from the sidebar or the dashboard's Quick Actions.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68680" y="2423160"/>
            <a:ext cx="822960" cy="822960"/>
          </a:xfrm>
          <a:prstGeom prst="ellipse">
            <a:avLst/>
          </a:prstGeom>
          <a:solidFill>
            <a:srgbClr val="1F7AE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Dashboard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6517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520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02336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At-a-glance stats on titles, copies, availability, members, and loans.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77184" y="210312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697224" y="2423160"/>
            <a:ext cx="822960" cy="822960"/>
          </a:xfrm>
          <a:prstGeom prst="ellipse">
            <a:avLst/>
          </a:prstGeom>
          <a:solidFill>
            <a:srgbClr val="7B3FB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Manage Book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824" y="26517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97224" y="3520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Books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697224" y="402336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delete, and search the book collection with live availability.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205728" y="210312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525768" y="2423160"/>
            <a:ext cx="822960" cy="822960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Manage Members 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368" y="265176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25768" y="3520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Members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525768" y="402336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and maintain library members with contact details.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9034272" y="2103120"/>
            <a:ext cx="26060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9354312" y="2423160"/>
            <a:ext cx="822960" cy="822960"/>
          </a:xfrm>
          <a:prstGeom prst="ellipse">
            <a:avLst/>
          </a:prstGeom>
          <a:solidFill>
            <a:srgbClr val="E8741E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Issue / Return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2912" y="265176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54312" y="3520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/ Return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354312" y="402336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Lend a book to a member, return it, and review transaction history.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9278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Color user  In python 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PALETTE (approximate, sampled from the screens)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017520" cy="1280160"/>
          </a:xfrm>
          <a:prstGeom prst="roundRect">
            <a:avLst>
              <a:gd name="adj" fmla="val 7143"/>
            </a:avLst>
          </a:prstGeom>
          <a:solidFill>
            <a:srgbClr val="1A3F8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Navy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#1A3F8B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51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headers, table headers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94760" y="1828800"/>
            <a:ext cx="3017520" cy="1280160"/>
          </a:xfrm>
          <a:prstGeom prst="roundRect">
            <a:avLst>
              <a:gd name="adj" fmla="val 7143"/>
            </a:avLst>
          </a:prstGeom>
          <a:solidFill>
            <a:srgbClr val="141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 txBox="1"/>
          <p:nvPr/>
        </p:nvSpPr>
        <p:spPr>
          <a:xfrm>
            <a:off x="3977640" y="1965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Midnight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97764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#141B3A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77640" y="2651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sidebar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3017520" cy="1280160"/>
          </a:xfrm>
          <a:prstGeom prst="roundRect">
            <a:avLst>
              <a:gd name="adj" fmla="val 7143"/>
            </a:avLst>
          </a:prstGeom>
          <a:solidFill>
            <a:srgbClr val="1E9E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73152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Green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794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#1E9E63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114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actions, availability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0" y="3291840"/>
            <a:ext cx="3017520" cy="1280160"/>
          </a:xfrm>
          <a:prstGeom prst="roundRect">
            <a:avLst>
              <a:gd name="adj" fmla="val 7143"/>
            </a:avLst>
          </a:prstGeom>
          <a:solidFill>
            <a:srgbClr val="1F7A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3977640" y="3429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Blue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977640" y="3794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#1F7AE0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4114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Update, Refresh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754880"/>
            <a:ext cx="3017520" cy="1280160"/>
          </a:xfrm>
          <a:prstGeom prst="roundRect">
            <a:avLst>
              <a:gd name="adj" fmla="val 7143"/>
            </a:avLst>
          </a:prstGeom>
          <a:solidFill>
            <a:srgbClr val="E548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731520" y="4892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Red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5257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#E5483B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577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Delete, Return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94760" y="4754880"/>
            <a:ext cx="3017520" cy="1280160"/>
          </a:xfrm>
          <a:prstGeom prst="roundRect">
            <a:avLst>
              <a:gd name="adj" fmla="val 7143"/>
            </a:avLst>
          </a:prstGeom>
          <a:solidFill>
            <a:srgbClr val="7B3F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3977640" y="4892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Violet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977640" y="5257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#7B3FBF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977640" y="5577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PATTERNS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1828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→ search → table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7498080" y="217627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management screen stacks input, search, and results in the same order.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49808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 by intent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32735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adds, blue updates, red removes, grey clears, purple searches.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498080" y="4023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Icon + label headings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498080" y="43708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titles pair a small icon with bold navy text for quick scanning.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7498080" y="5120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Click a row to edit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7498080" y="54681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a table row loads it into the form or the return action.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Dashboard: library at a glance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75488" y="1618488"/>
            <a:ext cx="6912864" cy="3949407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Dashboard: library at a glance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766560" cy="380310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709928"/>
            <a:ext cx="384048" cy="384048"/>
          </a:xfrm>
          <a:prstGeom prst="ellipse">
            <a:avLst/>
          </a:prstGeom>
          <a:solidFill>
            <a:srgbClr val="1F7A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86384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169164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KPI cards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03911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titles, total copies, available, members, currently issued, and returned, each with its own icon and colour.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863840" y="2898648"/>
            <a:ext cx="384048" cy="384048"/>
          </a:xfrm>
          <a:prstGeom prst="ellipse">
            <a:avLst/>
          </a:prstGeom>
          <a:solidFill>
            <a:srgbClr val="1F7A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786384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288036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Actions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22783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cards jump straight to Manage Books, Manage Members, or Issue / Return.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863840" y="4087368"/>
            <a:ext cx="384048" cy="384048"/>
          </a:xfrm>
          <a:prstGeom prst="ellipse">
            <a:avLst/>
          </a:prstGeom>
          <a:solidFill>
            <a:srgbClr val="1F7A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78638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40690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sidebar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41655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dark navigation rail keeps all four screens one click away.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863840" y="5276088"/>
            <a:ext cx="384048" cy="384048"/>
          </a:xfrm>
          <a:prstGeom prst="ellipse">
            <a:avLst/>
          </a:prstGeom>
          <a:solidFill>
            <a:srgbClr val="1F7A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786384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525780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Refresh + status bar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412480" y="560527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Refresh button updates the numbers; “System Ready” confirms the app state.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Books: the catalogue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800600" y="1618488"/>
            <a:ext cx="6912864" cy="4360703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Manage Books: the catalogue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691640"/>
            <a:ext cx="6766560" cy="421439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09928"/>
            <a:ext cx="384048" cy="384048"/>
          </a:xfrm>
          <a:prstGeom prst="ellipse">
            <a:avLst/>
          </a:prstGeom>
          <a:solidFill>
            <a:srgbClr val="7B3F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54864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69164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Details form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03911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Author, ISBN, Category, and Quantity in a compact two-column grid.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898648"/>
            <a:ext cx="384048" cy="384048"/>
          </a:xfrm>
          <a:prstGeom prst="ellipse">
            <a:avLst/>
          </a:prstGeom>
          <a:solidFill>
            <a:srgbClr val="7B3F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54864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88036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Colour-coded actions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322783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(green), Update (blue), Delete (red), and Clear (grey) are easy to tell apart.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4087368"/>
            <a:ext cx="384048" cy="384048"/>
          </a:xfrm>
          <a:prstGeom prst="ellipse">
            <a:avLst/>
          </a:prstGeom>
          <a:solidFill>
            <a:srgbClr val="7B3F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5486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40690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+ Show All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41655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search box filters the collection; Show All resets the view.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5276088"/>
            <a:ext cx="384048" cy="384048"/>
          </a:xfrm>
          <a:prstGeom prst="ellipse">
            <a:avLst/>
          </a:prstGeom>
          <a:solidFill>
            <a:srgbClr val="7B3F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54864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525780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Collection table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560527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ID, title, author, ISBN, category, quantity, and available copies. Click a row to edit.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 Members: the people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75488" y="1618488"/>
            <a:ext cx="6912864" cy="4394616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Manage Members: the people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766560" cy="42483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709928"/>
            <a:ext cx="384048" cy="384048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86384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169164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 Details form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412480" y="203911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name, email, phone number, and address laid out in one row of four fields.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863840" y="2898648"/>
            <a:ext cx="384048" cy="384048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786384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412480" y="288036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action pattern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22783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Update, Delete, and Clear reuse the colours and order from the Books screen.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863840" y="4087368"/>
            <a:ext cx="384048" cy="384048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78638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412480" y="40690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Members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412480" y="441655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lookup with a Show All button to restore the full list.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7863840" y="5276088"/>
            <a:ext cx="384048" cy="384048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786384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525780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Members List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412480" y="560527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scrollable table (ID, name, email, phone, address). Click a member to edit or delete.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/ Return: the circulation desk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800600" y="1618488"/>
            <a:ext cx="6912864" cy="418744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Issue / Return: the circulation desk screensh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691640"/>
            <a:ext cx="6766560" cy="40411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09928"/>
            <a:ext cx="384048" cy="384048"/>
          </a:xfrm>
          <a:prstGeom prst="ellipse">
            <a:avLst/>
          </a:prstGeom>
          <a:solidFill>
            <a:srgbClr val="E874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548640" y="1709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097280" y="169164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New Book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203911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book (its available count is shown) and a member from dropdowns, then click Issue Book.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2898648"/>
            <a:ext cx="384048" cy="384048"/>
          </a:xfrm>
          <a:prstGeom prst="ellipse">
            <a:avLst/>
          </a:prstGeom>
          <a:solidFill>
            <a:srgbClr val="E874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54864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97280" y="288036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Records toolbar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322783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status, Refresh the list, or Return Selected for the highlighted record.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4087368"/>
            <a:ext cx="384048" cy="384048"/>
          </a:xfrm>
          <a:prstGeom prst="ellipse">
            <a:avLst/>
          </a:prstGeom>
          <a:solidFill>
            <a:srgbClr val="E874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5486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406908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History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" y="441655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book, member, issue date, return date, and status for every loan.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5276088"/>
            <a:ext cx="384048" cy="384048"/>
          </a:xfrm>
          <a:prstGeom prst="ellipse">
            <a:avLst/>
          </a:prstGeom>
          <a:solidFill>
            <a:srgbClr val="E874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 txBox="1"/>
          <p:nvPr/>
        </p:nvSpPr>
        <p:spPr>
          <a:xfrm>
            <a:off x="548640" y="5276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097280" y="5257800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Timestamped records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1097280" y="5605272"/>
            <a:ext cx="32278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and return times are stored to the second, giving a clear audit trail.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typical librarian workflow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an empty catalogue to a completed loan in five steps.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011680" cy="3291840"/>
          </a:xfrm>
          <a:prstGeom prst="rect">
            <a:avLst/>
          </a:prstGeom>
          <a:solidFill>
            <a:srgbClr val="F4F6FB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2423160"/>
            <a:ext cx="640080" cy="640080"/>
          </a:xfrm>
          <a:prstGeom prst="ellipse">
            <a:avLst/>
          </a:prstGeom>
          <a:solidFill>
            <a:srgbClr val="7B3FB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77724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books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B3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BOOKS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4251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title, author, ISBN, category, and quantity.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3566160"/>
            <a:ext cx="2583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2818638" y="2194560"/>
            <a:ext cx="2011680" cy="3291840"/>
          </a:xfrm>
          <a:prstGeom prst="rect">
            <a:avLst/>
          </a:prstGeom>
          <a:solidFill>
            <a:srgbClr val="F4F6FB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047238" y="2423160"/>
            <a:ext cx="640080" cy="640080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304723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3047238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members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3047238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9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MEMBERS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047238" y="4251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name, email, phone, and address.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4830318" y="3566160"/>
            <a:ext cx="2583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18" name="Shape 16"/>
          <p:cNvSpPr/>
          <p:nvPr/>
        </p:nvSpPr>
        <p:spPr>
          <a:xfrm>
            <a:off x="5088636" y="2194560"/>
            <a:ext cx="2011680" cy="3291840"/>
          </a:xfrm>
          <a:prstGeom prst="rect">
            <a:avLst/>
          </a:prstGeom>
          <a:solidFill>
            <a:srgbClr val="F4F6FB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5317236" y="2423160"/>
            <a:ext cx="640080" cy="640080"/>
          </a:xfrm>
          <a:prstGeom prst="ellipse">
            <a:avLst/>
          </a:prstGeom>
          <a:solidFill>
            <a:srgbClr val="E8741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317236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317236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a book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5317236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87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/ RETURN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317236" y="4251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book and a member, then Issue Book.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100316" y="3566160"/>
            <a:ext cx="2583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7358634" y="2194560"/>
            <a:ext cx="2011680" cy="3291840"/>
          </a:xfrm>
          <a:prstGeom prst="rect">
            <a:avLst/>
          </a:prstGeom>
          <a:solidFill>
            <a:srgbClr val="F4F6FB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587234" y="2423160"/>
            <a:ext cx="640080" cy="640080"/>
          </a:xfrm>
          <a:prstGeom prst="ellipse">
            <a:avLst/>
          </a:prstGeom>
          <a:solidFill>
            <a:srgbClr val="E5483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7587234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587234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the book</a:t>
            </a:r>
            <a:endParaRPr lang="en-US" sz="1900" dirty="0"/>
          </a:p>
        </p:txBody>
      </p:sp>
      <p:sp>
        <p:nvSpPr>
          <p:cNvPr id="29" name="Text 27"/>
          <p:cNvSpPr txBox="1"/>
          <p:nvPr/>
        </p:nvSpPr>
        <p:spPr>
          <a:xfrm>
            <a:off x="7587234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548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/ RETURN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587234" y="4251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record and click Return Selected.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9370314" y="3566160"/>
            <a:ext cx="2583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9628632" y="2194560"/>
            <a:ext cx="2011680" cy="3291840"/>
          </a:xfrm>
          <a:prstGeom prst="rect">
            <a:avLst/>
          </a:prstGeom>
          <a:solidFill>
            <a:srgbClr val="F4F6FB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9857232" y="2423160"/>
            <a:ext cx="640080" cy="640080"/>
          </a:xfrm>
          <a:prstGeom prst="ellipse">
            <a:avLst/>
          </a:prstGeom>
          <a:solidFill>
            <a:srgbClr val="1F7A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 txBox="1"/>
          <p:nvPr/>
        </p:nvSpPr>
        <p:spPr>
          <a:xfrm>
            <a:off x="9857232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9857232" y="32461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the numbers</a:t>
            </a:r>
            <a:endParaRPr lang="en-US" sz="1900" dirty="0"/>
          </a:p>
        </p:txBody>
      </p:sp>
      <p:sp>
        <p:nvSpPr>
          <p:cNvPr id="36" name="Text 34"/>
          <p:cNvSpPr txBox="1"/>
          <p:nvPr/>
        </p:nvSpPr>
        <p:spPr>
          <a:xfrm>
            <a:off x="9857232" y="38862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F7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9857232" y="425196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A64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 see issued, returned, and available counts.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3F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works, and what to refine next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4068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Strengths 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Strengths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56032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layout and colours across all screens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visual hierarchy: navy headers, white cards, bold labels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actions reduce mistakes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shown right where books are selected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gives instant feedback on library activity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199632" y="1554480"/>
            <a:ext cx="544068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8" name="Image 1" descr="Opportunities 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18288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205472" y="1828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Opportunities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6565392" y="2560320"/>
            <a:ext cx="4709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subtitles are slightly clipped on the Members and Issue screens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titles differ between screens; unify the naming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due dates and overdue highlighting for loans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confirmation prompts and validation for delete and issue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Issue dropdowns with type-ahead search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3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FD3A54-486B-5DB9-2930-D2C73074A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DCCFD50-C581-B425-D9DE-3E24FA0CCD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987" t="17710" r="17525" b="16669"/>
          <a:stretch>
            <a:fillRect/>
          </a:stretch>
        </p:blipFill>
        <p:spPr>
          <a:xfrm>
            <a:off x="310896" y="804672"/>
            <a:ext cx="10678780" cy="50657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59396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876</Words>
  <Application>Microsoft Office PowerPoint</Application>
  <PresentationFormat>Widescreen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 – UI Design</dc:title>
  <dc:subject>PptxGenJS Presentation</dc:subject>
  <dc:creator>PptxGenJS</dc:creator>
  <cp:lastModifiedBy>Ashutosh Kumar</cp:lastModifiedBy>
  <cp:revision>12</cp:revision>
  <dcterms:created xsi:type="dcterms:W3CDTF">2026-09-20T13:22:32Z</dcterms:created>
  <dcterms:modified xsi:type="dcterms:W3CDTF">2026-09-24T06:52:33Z</dcterms:modified>
</cp:coreProperties>
</file>